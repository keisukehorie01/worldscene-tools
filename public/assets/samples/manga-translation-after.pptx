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8128000" cy="121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43840" y="365760"/>
            <a:ext cx="4876800" cy="731520"/>
          </a:xfrm>
          <a:prstGeom prst="rect">
            <a:avLst/>
          </a:prstGeom>
          <a:noFill/>
        </p:spPr>
        <p:txBody>
          <a:bodyPr wrap="none" lIns="0" rIns="0" tIns="0" bIns="0">
            <a:spAutoFit/>
          </a:bodyPr>
          <a:lstStyle/>
          <a:p>
            <a:r>
              <a:rPr b="1" sz="2800">
                <a:solidFill>
                  <a:srgbClr val="003366"/>
                </a:solidFill>
                <a:latin typeface="Yu Gothic"/>
              </a:rPr>
              <a:t>マンガ翻訳サービスのご提案</a:t>
            </a:r>
          </a:p>
        </p:txBody>
      </p:sp>
      <p:sp>
        <p:nvSpPr>
          <p:cNvPr id="3" name="TextBox 2"/>
          <p:cNvSpPr txBox="1"/>
          <p:nvPr/>
        </p:nvSpPr>
        <p:spPr>
          <a:xfrm>
            <a:off x="243840" y="1097280"/>
            <a:ext cx="4876800" cy="487680"/>
          </a:xfrm>
          <a:prstGeom prst="rect">
            <a:avLst/>
          </a:prstGeom>
          <a:noFill/>
        </p:spPr>
        <p:txBody>
          <a:bodyPr wrap="none" lIns="0" rIns="0" tIns="0" bIns="0">
            <a:spAutoFit/>
          </a:bodyPr>
          <a:lstStyle/>
          <a:p>
            <a:r>
              <a:rPr b="1" sz="1800">
                <a:solidFill>
                  <a:srgbClr val="004098"/>
                </a:solidFill>
                <a:latin typeface="Yu Gothic"/>
              </a:rPr>
              <a:t>高品質なマンガ翻訳で、作品の価値を世界へ</a:t>
            </a:r>
          </a:p>
        </p:txBody>
      </p:sp>
      <p:sp>
        <p:nvSpPr>
          <p:cNvPr id="4" name="TextBox 3"/>
          <p:cNvSpPr txBox="1"/>
          <p:nvPr/>
        </p:nvSpPr>
        <p:spPr>
          <a:xfrm>
            <a:off x="243840" y="1584960"/>
            <a:ext cx="4470400" cy="731520"/>
          </a:xfrm>
          <a:prstGeom prst="rect">
            <a:avLst/>
          </a:prstGeom>
          <a:noFill/>
        </p:spPr>
        <p:txBody>
          <a:bodyPr wrap="none" lIns="0" rIns="0" tIns="0" bIns="0">
            <a:spAutoFit/>
          </a:bodyPr>
          <a:lstStyle/>
          <a:p>
            <a:r>
              <a:rPr b="0" sz="1100">
                <a:solidFill>
                  <a:srgbClr val="333333"/>
                </a:solidFill>
                <a:latin typeface="Yu Gothic"/>
              </a:rPr>
              <a:t>当サービスは、マンガの魅力をそのままに、自然で読みやすい翻訳を提供します。ネイティブチェックと専門知識を持つ翻訳者・編集者が、作品の世界観やキャラクターの個性を大切にしながら、最適なローカライズを実現します。</a:t>
            </a:r>
          </a:p>
        </p:txBody>
      </p:sp>
      <p:sp>
        <p:nvSpPr>
          <p:cNvPr id="5" name="Rounded Rectangle 4"/>
          <p:cNvSpPr/>
          <p:nvPr/>
        </p:nvSpPr>
        <p:spPr>
          <a:xfrm>
            <a:off x="243840" y="2560320"/>
            <a:ext cx="3169920" cy="365760"/>
          </a:xfrm>
          <a:prstGeom prst="roundRect">
            <a:avLst/>
          </a:prstGeom>
          <a:solidFill>
            <a:srgbClr val="004098"/>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200">
                <a:solidFill>
                  <a:srgbClr val="FFFFFF"/>
                </a:solidFill>
                <a:latin typeface="Yu Gothic"/>
              </a:rPr>
              <a:t>1 サービスの特徴</a:t>
            </a:r>
          </a:p>
        </p:txBody>
      </p:sp>
      <p:sp>
        <p:nvSpPr>
          <p:cNvPr id="6" name="Oval 5"/>
          <p:cNvSpPr/>
          <p:nvPr/>
        </p:nvSpPr>
        <p:spPr>
          <a:xfrm>
            <a:off x="406400" y="3169920"/>
            <a:ext cx="406400" cy="609600"/>
          </a:xfrm>
          <a:prstGeom prst="ellipse">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5360" y="3048000"/>
            <a:ext cx="2438400" cy="243840"/>
          </a:xfrm>
          <a:prstGeom prst="rect">
            <a:avLst/>
          </a:prstGeom>
          <a:noFill/>
        </p:spPr>
        <p:txBody>
          <a:bodyPr wrap="none" lIns="0" rIns="0" tIns="0" bIns="0">
            <a:spAutoFit/>
          </a:bodyPr>
          <a:lstStyle/>
          <a:p>
            <a:r>
              <a:rPr b="1" sz="1200">
                <a:solidFill>
                  <a:srgbClr val="003366"/>
                </a:solidFill>
                <a:latin typeface="Yu Gothic"/>
              </a:rPr>
              <a:t>ネイティブによる自然な翻訳</a:t>
            </a:r>
          </a:p>
        </p:txBody>
      </p:sp>
      <p:sp>
        <p:nvSpPr>
          <p:cNvPr id="8" name="TextBox 7"/>
          <p:cNvSpPr txBox="1"/>
          <p:nvPr/>
        </p:nvSpPr>
        <p:spPr>
          <a:xfrm>
            <a:off x="975360" y="3291840"/>
            <a:ext cx="2438400" cy="365760"/>
          </a:xfrm>
          <a:prstGeom prst="rect">
            <a:avLst/>
          </a:prstGeom>
          <a:noFill/>
        </p:spPr>
        <p:txBody>
          <a:bodyPr wrap="none" lIns="0" rIns="0" tIns="0" bIns="0">
            <a:spAutoFit/>
          </a:bodyPr>
          <a:lstStyle/>
          <a:p>
            <a:r>
              <a:rPr b="0" sz="900">
                <a:solidFill>
                  <a:srgbClr val="555555"/>
                </a:solidFill>
                <a:latin typeface="Yu Gothic"/>
              </a:rPr>
              <a:t>対象言語のネイティブ翻訳者が、自然で読みやすい表現に翻訳します。</a:t>
            </a:r>
          </a:p>
        </p:txBody>
      </p:sp>
      <p:sp>
        <p:nvSpPr>
          <p:cNvPr id="9" name="Oval 8"/>
          <p:cNvSpPr/>
          <p:nvPr/>
        </p:nvSpPr>
        <p:spPr>
          <a:xfrm>
            <a:off x="406400" y="4023360"/>
            <a:ext cx="406400" cy="609600"/>
          </a:xfrm>
          <a:prstGeom prst="ellipse">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 y="3901440"/>
            <a:ext cx="2438400" cy="243840"/>
          </a:xfrm>
          <a:prstGeom prst="rect">
            <a:avLst/>
          </a:prstGeom>
          <a:noFill/>
        </p:spPr>
        <p:txBody>
          <a:bodyPr wrap="none" lIns="0" rIns="0" tIns="0" bIns="0">
            <a:spAutoFit/>
          </a:bodyPr>
          <a:lstStyle/>
          <a:p>
            <a:r>
              <a:rPr b="1" sz="1200">
                <a:solidFill>
                  <a:srgbClr val="003366"/>
                </a:solidFill>
                <a:latin typeface="Yu Gothic"/>
              </a:rPr>
              <a:t>マンガに特化したローカライズ</a:t>
            </a:r>
          </a:p>
        </p:txBody>
      </p:sp>
      <p:sp>
        <p:nvSpPr>
          <p:cNvPr id="11" name="TextBox 10"/>
          <p:cNvSpPr txBox="1"/>
          <p:nvPr/>
        </p:nvSpPr>
        <p:spPr>
          <a:xfrm>
            <a:off x="975360" y="4145280"/>
            <a:ext cx="2438400" cy="365760"/>
          </a:xfrm>
          <a:prstGeom prst="rect">
            <a:avLst/>
          </a:prstGeom>
          <a:noFill/>
        </p:spPr>
        <p:txBody>
          <a:bodyPr wrap="none" lIns="0" rIns="0" tIns="0" bIns="0">
            <a:spAutoFit/>
          </a:bodyPr>
          <a:lstStyle/>
          <a:p>
            <a:r>
              <a:rPr b="0" sz="900">
                <a:solidFill>
                  <a:srgbClr val="555555"/>
                </a:solidFill>
                <a:latin typeface="Yu Gothic"/>
              </a:rPr>
              <a:t>セリフの口調・キャラクター性・作品世界観を重視した翻訳・編集を行います。</a:t>
            </a:r>
          </a:p>
        </p:txBody>
      </p:sp>
      <p:sp>
        <p:nvSpPr>
          <p:cNvPr id="12" name="Oval 11"/>
          <p:cNvSpPr/>
          <p:nvPr/>
        </p:nvSpPr>
        <p:spPr>
          <a:xfrm>
            <a:off x="406400" y="4876800"/>
            <a:ext cx="406400" cy="609600"/>
          </a:xfrm>
          <a:prstGeom prst="ellipse">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5360" y="4754880"/>
            <a:ext cx="2438400" cy="243840"/>
          </a:xfrm>
          <a:prstGeom prst="rect">
            <a:avLst/>
          </a:prstGeom>
          <a:noFill/>
        </p:spPr>
        <p:txBody>
          <a:bodyPr wrap="none" lIns="0" rIns="0" tIns="0" bIns="0">
            <a:spAutoFit/>
          </a:bodyPr>
          <a:lstStyle/>
          <a:p>
            <a:r>
              <a:rPr b="1" sz="1200">
                <a:solidFill>
                  <a:srgbClr val="003366"/>
                </a:solidFill>
                <a:latin typeface="Yu Gothic"/>
              </a:rPr>
              <a:t>高品質チェック体制</a:t>
            </a:r>
          </a:p>
        </p:txBody>
      </p:sp>
      <p:sp>
        <p:nvSpPr>
          <p:cNvPr id="14" name="TextBox 13"/>
          <p:cNvSpPr txBox="1"/>
          <p:nvPr/>
        </p:nvSpPr>
        <p:spPr>
          <a:xfrm>
            <a:off x="975360" y="4998720"/>
            <a:ext cx="2438400" cy="365760"/>
          </a:xfrm>
          <a:prstGeom prst="rect">
            <a:avLst/>
          </a:prstGeom>
          <a:noFill/>
        </p:spPr>
        <p:txBody>
          <a:bodyPr wrap="none" lIns="0" rIns="0" tIns="0" bIns="0">
            <a:spAutoFit/>
          </a:bodyPr>
          <a:lstStyle/>
          <a:p>
            <a:r>
              <a:rPr b="0" sz="900">
                <a:solidFill>
                  <a:srgbClr val="555555"/>
                </a:solidFill>
                <a:latin typeface="Yu Gothic"/>
              </a:rPr>
              <a:t>翻訳後にネイティブチェック・品質チェックを実施し、誤訳や不自然な表現を徹底的に排除します。</a:t>
            </a:r>
          </a:p>
        </p:txBody>
      </p:sp>
      <p:sp>
        <p:nvSpPr>
          <p:cNvPr id="15" name="Oval 14"/>
          <p:cNvSpPr/>
          <p:nvPr/>
        </p:nvSpPr>
        <p:spPr>
          <a:xfrm>
            <a:off x="406400" y="5730240"/>
            <a:ext cx="406400" cy="609600"/>
          </a:xfrm>
          <a:prstGeom prst="ellipse">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5360" y="5608320"/>
            <a:ext cx="2438400" cy="243840"/>
          </a:xfrm>
          <a:prstGeom prst="rect">
            <a:avLst/>
          </a:prstGeom>
          <a:noFill/>
        </p:spPr>
        <p:txBody>
          <a:bodyPr wrap="none" lIns="0" rIns="0" tIns="0" bIns="0">
            <a:spAutoFit/>
          </a:bodyPr>
          <a:lstStyle/>
          <a:p>
            <a:r>
              <a:rPr b="1" sz="1200">
                <a:solidFill>
                  <a:srgbClr val="003366"/>
                </a:solidFill>
                <a:latin typeface="Yu Gothic"/>
              </a:rPr>
              <a:t>多言語対応</a:t>
            </a:r>
          </a:p>
        </p:txBody>
      </p:sp>
      <p:sp>
        <p:nvSpPr>
          <p:cNvPr id="17" name="TextBox 16"/>
          <p:cNvSpPr txBox="1"/>
          <p:nvPr/>
        </p:nvSpPr>
        <p:spPr>
          <a:xfrm>
            <a:off x="975360" y="5852160"/>
            <a:ext cx="2438400" cy="365760"/>
          </a:xfrm>
          <a:prstGeom prst="rect">
            <a:avLst/>
          </a:prstGeom>
          <a:noFill/>
        </p:spPr>
        <p:txBody>
          <a:bodyPr wrap="none" lIns="0" rIns="0" tIns="0" bIns="0">
            <a:spAutoFit/>
          </a:bodyPr>
          <a:lstStyle/>
          <a:p>
            <a:r>
              <a:rPr b="0" sz="900">
                <a:solidFill>
                  <a:srgbClr val="555555"/>
                </a:solidFill>
                <a:latin typeface="Yu Gothic"/>
              </a:rPr>
              <a:t>英語をはじめ、フランス語・スペイン語・ドイツ語・中国語（簡体字/繁体字）など幅広く対応可能です。</a:t>
            </a:r>
          </a:p>
        </p:txBody>
      </p:sp>
      <p:sp>
        <p:nvSpPr>
          <p:cNvPr id="18" name="Oval 17"/>
          <p:cNvSpPr/>
          <p:nvPr/>
        </p:nvSpPr>
        <p:spPr>
          <a:xfrm>
            <a:off x="406400" y="6583680"/>
            <a:ext cx="406400" cy="609600"/>
          </a:xfrm>
          <a:prstGeom prst="ellipse">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5360" y="6461760"/>
            <a:ext cx="2438400" cy="243840"/>
          </a:xfrm>
          <a:prstGeom prst="rect">
            <a:avLst/>
          </a:prstGeom>
          <a:noFill/>
        </p:spPr>
        <p:txBody>
          <a:bodyPr wrap="none" lIns="0" rIns="0" tIns="0" bIns="0">
            <a:spAutoFit/>
          </a:bodyPr>
          <a:lstStyle/>
          <a:p>
            <a:r>
              <a:rPr b="1" sz="1200">
                <a:solidFill>
                  <a:srgbClr val="003366"/>
                </a:solidFill>
                <a:latin typeface="Yu Gothic"/>
              </a:rPr>
              <a:t>スピーディーな納品</a:t>
            </a:r>
          </a:p>
        </p:txBody>
      </p:sp>
      <p:sp>
        <p:nvSpPr>
          <p:cNvPr id="20" name="TextBox 19"/>
          <p:cNvSpPr txBox="1"/>
          <p:nvPr/>
        </p:nvSpPr>
        <p:spPr>
          <a:xfrm>
            <a:off x="975360" y="6705600"/>
            <a:ext cx="2438400" cy="365760"/>
          </a:xfrm>
          <a:prstGeom prst="rect">
            <a:avLst/>
          </a:prstGeom>
          <a:noFill/>
        </p:spPr>
        <p:txBody>
          <a:bodyPr wrap="none" lIns="0" rIns="0" tIns="0" bIns="0">
            <a:spAutoFit/>
          </a:bodyPr>
          <a:lstStyle/>
          <a:p>
            <a:r>
              <a:rPr b="0" sz="900">
                <a:solidFill>
                  <a:srgbClr val="555555"/>
                </a:solidFill>
                <a:latin typeface="Yu Gothic"/>
              </a:rPr>
              <a:t>効率的なワークフローと専用ツールを活用し、高品質かつ短納期での納品を実現します。</a:t>
            </a:r>
          </a:p>
        </p:txBody>
      </p:sp>
      <p:sp>
        <p:nvSpPr>
          <p:cNvPr id="21" name="Rounded Rectangle 20"/>
          <p:cNvSpPr/>
          <p:nvPr/>
        </p:nvSpPr>
        <p:spPr>
          <a:xfrm>
            <a:off x="3657600" y="2560320"/>
            <a:ext cx="4226560" cy="365760"/>
          </a:xfrm>
          <a:prstGeom prst="roundRect">
            <a:avLst/>
          </a:prstGeom>
          <a:solidFill>
            <a:srgbClr val="004098"/>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200">
                <a:solidFill>
                  <a:srgbClr val="FFFFFF"/>
                </a:solidFill>
                <a:latin typeface="Yu Gothic"/>
              </a:rPr>
              <a:t>2 翻訳サンプル（英語）</a:t>
            </a:r>
          </a:p>
        </p:txBody>
      </p:sp>
      <p:sp>
        <p:nvSpPr>
          <p:cNvPr id="22" name="Rectangle 21"/>
          <p:cNvSpPr/>
          <p:nvPr/>
        </p:nvSpPr>
        <p:spPr>
          <a:xfrm>
            <a:off x="3657600" y="3048000"/>
            <a:ext cx="1869440" cy="365760"/>
          </a:xfrm>
          <a:prstGeom prst="rect">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000">
                <a:solidFill>
                  <a:srgbClr val="003366"/>
                </a:solidFill>
                <a:latin typeface="Yu Gothic"/>
              </a:rPr>
              <a:t>日本語（原文）</a:t>
            </a:r>
          </a:p>
        </p:txBody>
      </p:sp>
      <p:sp>
        <p:nvSpPr>
          <p:cNvPr id="23" name="Rectangle 22"/>
          <p:cNvSpPr/>
          <p:nvPr/>
        </p:nvSpPr>
        <p:spPr>
          <a:xfrm>
            <a:off x="5852160" y="3048000"/>
            <a:ext cx="1869440" cy="365760"/>
          </a:xfrm>
          <a:prstGeom prst="rect">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000">
                <a:solidFill>
                  <a:srgbClr val="003366"/>
                </a:solidFill>
                <a:latin typeface="Yu Gothic"/>
              </a:rPr>
              <a:t>英語（翻訳後）</a:t>
            </a:r>
          </a:p>
        </p:txBody>
      </p:sp>
      <p:sp>
        <p:nvSpPr>
          <p:cNvPr id="24" name="TextBox 23"/>
          <p:cNvSpPr txBox="1"/>
          <p:nvPr/>
        </p:nvSpPr>
        <p:spPr>
          <a:xfrm>
            <a:off x="3657600" y="8290560"/>
            <a:ext cx="4226560" cy="243840"/>
          </a:xfrm>
          <a:prstGeom prst="rect">
            <a:avLst/>
          </a:prstGeom>
          <a:noFill/>
        </p:spPr>
        <p:txBody>
          <a:bodyPr wrap="none" lIns="0" rIns="0" tIns="0" bIns="0">
            <a:spAutoFit/>
          </a:bodyPr>
          <a:lstStyle/>
          <a:p>
            <a:r>
              <a:rPr b="0" sz="900">
                <a:solidFill>
                  <a:srgbClr val="555555"/>
                </a:solidFill>
                <a:latin typeface="Yu Gothic"/>
              </a:rPr>
              <a:t>※レイアウト・フォント・雰囲気はオリジナルのまま、自然な表現に翻訳します。</a:t>
            </a:r>
          </a:p>
        </p:txBody>
      </p:sp>
      <p:sp>
        <p:nvSpPr>
          <p:cNvPr id="25" name="Rounded Rectangle 24"/>
          <p:cNvSpPr/>
          <p:nvPr/>
        </p:nvSpPr>
        <p:spPr>
          <a:xfrm>
            <a:off x="243840" y="7437120"/>
            <a:ext cx="3169920" cy="365760"/>
          </a:xfrm>
          <a:prstGeom prst="roundRect">
            <a:avLst/>
          </a:prstGeom>
          <a:solidFill>
            <a:srgbClr val="004098"/>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200">
                <a:solidFill>
                  <a:srgbClr val="FFFFFF"/>
                </a:solidFill>
                <a:latin typeface="Yu Gothic"/>
              </a:rPr>
              <a:t>3 制作の流れ</a:t>
            </a:r>
          </a:p>
        </p:txBody>
      </p:sp>
      <p:sp>
        <p:nvSpPr>
          <p:cNvPr id="26" name="Rounded Rectangle 25"/>
          <p:cNvSpPr/>
          <p:nvPr/>
        </p:nvSpPr>
        <p:spPr>
          <a:xfrm>
            <a:off x="243840" y="7924800"/>
            <a:ext cx="650240" cy="975360"/>
          </a:xfrm>
          <a:prstGeom prst="roundRect">
            <a:avLst/>
          </a:prstGeom>
          <a:solidFill>
            <a:srgbClr val="FFFF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000">
                <a:solidFill>
                  <a:srgbClr val="003366"/>
                </a:solidFill>
                <a:latin typeface="Yu Gothic"/>
              </a:rPr>
              <a:t>お見積り</a:t>
            </a:r>
          </a:p>
          <a:p>
            <a:r>
              <a:rPr b="1" sz="800">
                <a:solidFill>
                  <a:srgbClr val="003366"/>
                </a:solidFill>
                <a:latin typeface="Yu Gothic"/>
              </a:rPr>
              <a:t>ご相談</a:t>
            </a:r>
          </a:p>
        </p:txBody>
      </p:sp>
      <p:sp>
        <p:nvSpPr>
          <p:cNvPr id="27" name="Rounded Rectangle 26"/>
          <p:cNvSpPr/>
          <p:nvPr/>
        </p:nvSpPr>
        <p:spPr>
          <a:xfrm>
            <a:off x="1056640" y="7924800"/>
            <a:ext cx="650240" cy="975360"/>
          </a:xfrm>
          <a:prstGeom prst="roundRect">
            <a:avLst/>
          </a:prstGeom>
          <a:solidFill>
            <a:srgbClr val="FFFF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000">
                <a:solidFill>
                  <a:srgbClr val="003366"/>
                </a:solidFill>
                <a:latin typeface="Yu Gothic"/>
              </a:rPr>
              <a:t>翻訳</a:t>
            </a:r>
          </a:p>
        </p:txBody>
      </p:sp>
      <p:sp>
        <p:nvSpPr>
          <p:cNvPr id="28" name="Rounded Rectangle 27"/>
          <p:cNvSpPr/>
          <p:nvPr/>
        </p:nvSpPr>
        <p:spPr>
          <a:xfrm>
            <a:off x="1869440" y="7924800"/>
            <a:ext cx="650240" cy="975360"/>
          </a:xfrm>
          <a:prstGeom prst="roundRect">
            <a:avLst/>
          </a:prstGeom>
          <a:solidFill>
            <a:srgbClr val="FFFF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000">
                <a:solidFill>
                  <a:srgbClr val="003366"/>
                </a:solidFill>
                <a:latin typeface="Yu Gothic"/>
              </a:rPr>
              <a:t>チェック・編集</a:t>
            </a:r>
          </a:p>
        </p:txBody>
      </p:sp>
      <p:sp>
        <p:nvSpPr>
          <p:cNvPr id="29" name="Rounded Rectangle 28"/>
          <p:cNvSpPr/>
          <p:nvPr/>
        </p:nvSpPr>
        <p:spPr>
          <a:xfrm>
            <a:off x="2682240" y="7924800"/>
            <a:ext cx="650240" cy="975360"/>
          </a:xfrm>
          <a:prstGeom prst="roundRect">
            <a:avLst/>
          </a:prstGeom>
          <a:solidFill>
            <a:srgbClr val="FFFF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000">
                <a:solidFill>
                  <a:srgbClr val="003366"/>
                </a:solidFill>
                <a:latin typeface="Yu Gothic"/>
              </a:rPr>
              <a:t>納品</a:t>
            </a:r>
          </a:p>
        </p:txBody>
      </p:sp>
      <p:sp>
        <p:nvSpPr>
          <p:cNvPr id="30" name="TextBox 29"/>
          <p:cNvSpPr txBox="1"/>
          <p:nvPr/>
        </p:nvSpPr>
        <p:spPr>
          <a:xfrm>
            <a:off x="243840" y="9022080"/>
            <a:ext cx="650240" cy="487680"/>
          </a:xfrm>
          <a:prstGeom prst="rect">
            <a:avLst/>
          </a:prstGeom>
          <a:noFill/>
        </p:spPr>
        <p:txBody>
          <a:bodyPr wrap="none" lIns="0" rIns="0" tIns="0" bIns="0">
            <a:spAutoFit/>
          </a:bodyPr>
          <a:lstStyle/>
          <a:p>
            <a:r>
              <a:rPr b="0" sz="800">
                <a:solidFill>
                  <a:srgbClr val="333333"/>
                </a:solidFill>
                <a:latin typeface="Yu Gothic"/>
              </a:rPr>
              <a:t>ご要望・仕様を
ヒアリング</a:t>
            </a:r>
          </a:p>
        </p:txBody>
      </p:sp>
      <p:sp>
        <p:nvSpPr>
          <p:cNvPr id="31" name="TextBox 30"/>
          <p:cNvSpPr txBox="1"/>
          <p:nvPr/>
        </p:nvSpPr>
        <p:spPr>
          <a:xfrm>
            <a:off x="1056640" y="9022080"/>
            <a:ext cx="650240" cy="487680"/>
          </a:xfrm>
          <a:prstGeom prst="rect">
            <a:avLst/>
          </a:prstGeom>
          <a:noFill/>
        </p:spPr>
        <p:txBody>
          <a:bodyPr wrap="none" lIns="0" rIns="0" tIns="0" bIns="0">
            <a:spAutoFit/>
          </a:bodyPr>
          <a:lstStyle/>
          <a:p>
            <a:r>
              <a:rPr b="0" sz="800">
                <a:solidFill>
                  <a:srgbClr val="333333"/>
                </a:solidFill>
                <a:latin typeface="Yu Gothic"/>
              </a:rPr>
              <a:t>マンガに最適化した
翻訳を実施</a:t>
            </a:r>
          </a:p>
        </p:txBody>
      </p:sp>
      <p:sp>
        <p:nvSpPr>
          <p:cNvPr id="32" name="TextBox 31"/>
          <p:cNvSpPr txBox="1"/>
          <p:nvPr/>
        </p:nvSpPr>
        <p:spPr>
          <a:xfrm>
            <a:off x="1869440" y="9022080"/>
            <a:ext cx="650240" cy="487680"/>
          </a:xfrm>
          <a:prstGeom prst="rect">
            <a:avLst/>
          </a:prstGeom>
          <a:noFill/>
        </p:spPr>
        <p:txBody>
          <a:bodyPr wrap="none" lIns="0" rIns="0" tIns="0" bIns="0">
            <a:spAutoFit/>
          </a:bodyPr>
          <a:lstStyle/>
          <a:p>
            <a:r>
              <a:rPr b="0" sz="800">
                <a:solidFill>
                  <a:srgbClr val="333333"/>
                </a:solidFill>
                <a:latin typeface="Yu Gothic"/>
              </a:rPr>
              <a:t>ネイティブチェックと
品質チェック</a:t>
            </a:r>
          </a:p>
        </p:txBody>
      </p:sp>
      <p:sp>
        <p:nvSpPr>
          <p:cNvPr id="33" name="TextBox 32"/>
          <p:cNvSpPr txBox="1"/>
          <p:nvPr/>
        </p:nvSpPr>
        <p:spPr>
          <a:xfrm>
            <a:off x="2682240" y="9022080"/>
            <a:ext cx="650240" cy="487680"/>
          </a:xfrm>
          <a:prstGeom prst="rect">
            <a:avLst/>
          </a:prstGeom>
          <a:noFill/>
        </p:spPr>
        <p:txBody>
          <a:bodyPr wrap="none" lIns="0" rIns="0" tIns="0" bIns="0">
            <a:spAutoFit/>
          </a:bodyPr>
          <a:lstStyle/>
          <a:p>
            <a:r>
              <a:rPr b="0" sz="800">
                <a:solidFill>
                  <a:srgbClr val="333333"/>
                </a:solidFill>
                <a:latin typeface="Yu Gothic"/>
              </a:rPr>
              <a:t>ご希望の形式で
納品</a:t>
            </a:r>
          </a:p>
        </p:txBody>
      </p:sp>
      <p:sp>
        <p:nvSpPr>
          <p:cNvPr id="34" name="Rounded Rectangle 33"/>
          <p:cNvSpPr/>
          <p:nvPr/>
        </p:nvSpPr>
        <p:spPr>
          <a:xfrm>
            <a:off x="3657600" y="7437120"/>
            <a:ext cx="4226560" cy="365760"/>
          </a:xfrm>
          <a:prstGeom prst="roundRect">
            <a:avLst/>
          </a:prstGeom>
          <a:solidFill>
            <a:srgbClr val="004098"/>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200">
                <a:solidFill>
                  <a:srgbClr val="FFFFFF"/>
                </a:solidFill>
                <a:latin typeface="Yu Gothic"/>
              </a:rPr>
              <a:t>4 対応言語・納品形式</a:t>
            </a:r>
          </a:p>
        </p:txBody>
      </p:sp>
      <p:sp>
        <p:nvSpPr>
          <p:cNvPr id="35" name="Rectangle 34"/>
          <p:cNvSpPr/>
          <p:nvPr/>
        </p:nvSpPr>
        <p:spPr>
          <a:xfrm>
            <a:off x="3738880" y="7924800"/>
            <a:ext cx="1219200" cy="243840"/>
          </a:xfrm>
          <a:prstGeom prst="rect">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900">
                <a:solidFill>
                  <a:srgbClr val="003366"/>
                </a:solidFill>
                <a:latin typeface="Yu Gothic"/>
              </a:rPr>
              <a:t>対応言語（一例）</a:t>
            </a:r>
          </a:p>
        </p:txBody>
      </p:sp>
      <p:sp>
        <p:nvSpPr>
          <p:cNvPr id="36" name="TextBox 35"/>
          <p:cNvSpPr txBox="1"/>
          <p:nvPr/>
        </p:nvSpPr>
        <p:spPr>
          <a:xfrm>
            <a:off x="3738880" y="8778240"/>
            <a:ext cx="568960" cy="243840"/>
          </a:xfrm>
          <a:prstGeom prst="rect">
            <a:avLst/>
          </a:prstGeom>
          <a:noFill/>
        </p:spPr>
        <p:txBody>
          <a:bodyPr wrap="none" lIns="0" rIns="0" tIns="0" bIns="0">
            <a:spAutoFit/>
          </a:bodyPr>
          <a:lstStyle/>
          <a:p>
            <a:r>
              <a:rPr b="0" sz="800">
                <a:solidFill>
                  <a:srgbClr val="333333"/>
                </a:solidFill>
                <a:latin typeface="Yu Gothic"/>
              </a:rPr>
              <a:t>英語</a:t>
            </a:r>
          </a:p>
        </p:txBody>
      </p:sp>
      <p:sp>
        <p:nvSpPr>
          <p:cNvPr id="37" name="TextBox 36"/>
          <p:cNvSpPr txBox="1"/>
          <p:nvPr/>
        </p:nvSpPr>
        <p:spPr>
          <a:xfrm>
            <a:off x="4389120" y="8778240"/>
            <a:ext cx="568960" cy="243840"/>
          </a:xfrm>
          <a:prstGeom prst="rect">
            <a:avLst/>
          </a:prstGeom>
          <a:noFill/>
        </p:spPr>
        <p:txBody>
          <a:bodyPr wrap="none" lIns="0" rIns="0" tIns="0" bIns="0">
            <a:spAutoFit/>
          </a:bodyPr>
          <a:lstStyle/>
          <a:p>
            <a:r>
              <a:rPr b="0" sz="800">
                <a:solidFill>
                  <a:srgbClr val="333333"/>
                </a:solidFill>
                <a:latin typeface="Yu Gothic"/>
              </a:rPr>
              <a:t>フランス語</a:t>
            </a:r>
          </a:p>
        </p:txBody>
      </p:sp>
      <p:sp>
        <p:nvSpPr>
          <p:cNvPr id="38" name="TextBox 37"/>
          <p:cNvSpPr txBox="1"/>
          <p:nvPr/>
        </p:nvSpPr>
        <p:spPr>
          <a:xfrm>
            <a:off x="5039360" y="8778240"/>
            <a:ext cx="568960" cy="243840"/>
          </a:xfrm>
          <a:prstGeom prst="rect">
            <a:avLst/>
          </a:prstGeom>
          <a:noFill/>
        </p:spPr>
        <p:txBody>
          <a:bodyPr wrap="none" lIns="0" rIns="0" tIns="0" bIns="0">
            <a:spAutoFit/>
          </a:bodyPr>
          <a:lstStyle/>
          <a:p>
            <a:r>
              <a:rPr b="0" sz="800">
                <a:solidFill>
                  <a:srgbClr val="333333"/>
                </a:solidFill>
                <a:latin typeface="Yu Gothic"/>
              </a:rPr>
              <a:t>スペイン語</a:t>
            </a:r>
          </a:p>
        </p:txBody>
      </p:sp>
      <p:sp>
        <p:nvSpPr>
          <p:cNvPr id="39" name="TextBox 38"/>
          <p:cNvSpPr txBox="1"/>
          <p:nvPr/>
        </p:nvSpPr>
        <p:spPr>
          <a:xfrm>
            <a:off x="5689600" y="8778240"/>
            <a:ext cx="568960" cy="243840"/>
          </a:xfrm>
          <a:prstGeom prst="rect">
            <a:avLst/>
          </a:prstGeom>
          <a:noFill/>
        </p:spPr>
        <p:txBody>
          <a:bodyPr wrap="none" lIns="0" rIns="0" tIns="0" bIns="0">
            <a:spAutoFit/>
          </a:bodyPr>
          <a:lstStyle/>
          <a:p>
            <a:r>
              <a:rPr b="0" sz="800">
                <a:solidFill>
                  <a:srgbClr val="333333"/>
                </a:solidFill>
                <a:latin typeface="Yu Gothic"/>
              </a:rPr>
              <a:t>ドイツ語</a:t>
            </a:r>
          </a:p>
        </p:txBody>
      </p:sp>
      <p:sp>
        <p:nvSpPr>
          <p:cNvPr id="40" name="TextBox 39"/>
          <p:cNvSpPr txBox="1"/>
          <p:nvPr/>
        </p:nvSpPr>
        <p:spPr>
          <a:xfrm>
            <a:off x="6339840" y="8778240"/>
            <a:ext cx="650240" cy="365760"/>
          </a:xfrm>
          <a:prstGeom prst="rect">
            <a:avLst/>
          </a:prstGeom>
          <a:noFill/>
        </p:spPr>
        <p:txBody>
          <a:bodyPr wrap="none" lIns="0" rIns="0" tIns="0" bIns="0">
            <a:spAutoFit/>
          </a:bodyPr>
          <a:lstStyle/>
          <a:p>
            <a:r>
              <a:rPr b="0" sz="800">
                <a:solidFill>
                  <a:srgbClr val="333333"/>
                </a:solidFill>
                <a:latin typeface="Yu Gothic"/>
              </a:rPr>
              <a:t>中国語
(簡体字)</a:t>
            </a:r>
          </a:p>
        </p:txBody>
      </p:sp>
      <p:sp>
        <p:nvSpPr>
          <p:cNvPr id="41" name="TextBox 40"/>
          <p:cNvSpPr txBox="1"/>
          <p:nvPr/>
        </p:nvSpPr>
        <p:spPr>
          <a:xfrm>
            <a:off x="7071360" y="8778240"/>
            <a:ext cx="650240" cy="365760"/>
          </a:xfrm>
          <a:prstGeom prst="rect">
            <a:avLst/>
          </a:prstGeom>
          <a:noFill/>
        </p:spPr>
        <p:txBody>
          <a:bodyPr wrap="none" lIns="0" rIns="0" tIns="0" bIns="0">
            <a:spAutoFit/>
          </a:bodyPr>
          <a:lstStyle/>
          <a:p>
            <a:r>
              <a:rPr b="0" sz="800">
                <a:solidFill>
                  <a:srgbClr val="333333"/>
                </a:solidFill>
                <a:latin typeface="Yu Gothic"/>
              </a:rPr>
              <a:t>中国語
(繁体字)</a:t>
            </a:r>
          </a:p>
        </p:txBody>
      </p:sp>
      <p:sp>
        <p:nvSpPr>
          <p:cNvPr id="42" name="Rectangle 41"/>
          <p:cNvSpPr/>
          <p:nvPr/>
        </p:nvSpPr>
        <p:spPr>
          <a:xfrm>
            <a:off x="3738880" y="9265920"/>
            <a:ext cx="1219200" cy="243840"/>
          </a:xfrm>
          <a:prstGeom prst="rect">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900">
                <a:solidFill>
                  <a:srgbClr val="003366"/>
                </a:solidFill>
                <a:latin typeface="Yu Gothic"/>
              </a:rPr>
              <a:t>納品形式</a:t>
            </a:r>
          </a:p>
        </p:txBody>
      </p:sp>
      <p:sp>
        <p:nvSpPr>
          <p:cNvPr id="43" name="TextBox 42"/>
          <p:cNvSpPr txBox="1"/>
          <p:nvPr/>
        </p:nvSpPr>
        <p:spPr>
          <a:xfrm>
            <a:off x="4064000" y="9631680"/>
            <a:ext cx="975360" cy="365760"/>
          </a:xfrm>
          <a:prstGeom prst="rect">
            <a:avLst/>
          </a:prstGeom>
          <a:noFill/>
        </p:spPr>
        <p:txBody>
          <a:bodyPr wrap="none" lIns="0" rIns="0" tIns="0" bIns="0">
            <a:spAutoFit/>
          </a:bodyPr>
          <a:lstStyle/>
          <a:p>
            <a:r>
              <a:rPr b="0" sz="800">
                <a:solidFill>
                  <a:srgbClr val="333333"/>
                </a:solidFill>
                <a:latin typeface="Yu Gothic"/>
              </a:rPr>
              <a:t>画像データ
(PNG / JPG)</a:t>
            </a:r>
          </a:p>
        </p:txBody>
      </p:sp>
      <p:sp>
        <p:nvSpPr>
          <p:cNvPr id="44" name="TextBox 43"/>
          <p:cNvSpPr txBox="1"/>
          <p:nvPr/>
        </p:nvSpPr>
        <p:spPr>
          <a:xfrm>
            <a:off x="5201920" y="9631680"/>
            <a:ext cx="650240" cy="365760"/>
          </a:xfrm>
          <a:prstGeom prst="rect">
            <a:avLst/>
          </a:prstGeom>
          <a:noFill/>
        </p:spPr>
        <p:txBody>
          <a:bodyPr wrap="none" lIns="0" rIns="0" tIns="0" bIns="0">
            <a:spAutoFit/>
          </a:bodyPr>
          <a:lstStyle/>
          <a:p>
            <a:r>
              <a:rPr b="0" sz="800">
                <a:solidFill>
                  <a:srgbClr val="333333"/>
                </a:solidFill>
                <a:latin typeface="Yu Gothic"/>
              </a:rPr>
              <a:t>PDF</a:t>
            </a:r>
          </a:p>
        </p:txBody>
      </p:sp>
      <p:sp>
        <p:nvSpPr>
          <p:cNvPr id="45" name="TextBox 44"/>
          <p:cNvSpPr txBox="1"/>
          <p:nvPr/>
        </p:nvSpPr>
        <p:spPr>
          <a:xfrm>
            <a:off x="5933440" y="9631680"/>
            <a:ext cx="1219200" cy="365760"/>
          </a:xfrm>
          <a:prstGeom prst="rect">
            <a:avLst/>
          </a:prstGeom>
          <a:noFill/>
        </p:spPr>
        <p:txBody>
          <a:bodyPr wrap="none" lIns="0" rIns="0" tIns="0" bIns="0">
            <a:spAutoFit/>
          </a:bodyPr>
          <a:lstStyle/>
          <a:p>
            <a:r>
              <a:rPr b="0" sz="800">
                <a:solidFill>
                  <a:srgbClr val="333333"/>
                </a:solidFill>
                <a:latin typeface="Yu Gothic"/>
              </a:rPr>
              <a:t>PSD / TIFF
(レイヤー納品可)</a:t>
            </a:r>
          </a:p>
        </p:txBody>
      </p:sp>
      <p:sp>
        <p:nvSpPr>
          <p:cNvPr id="46" name="TextBox 45"/>
          <p:cNvSpPr txBox="1"/>
          <p:nvPr/>
        </p:nvSpPr>
        <p:spPr>
          <a:xfrm>
            <a:off x="7233920" y="9631680"/>
            <a:ext cx="650240" cy="365760"/>
          </a:xfrm>
          <a:prstGeom prst="rect">
            <a:avLst/>
          </a:prstGeom>
          <a:noFill/>
        </p:spPr>
        <p:txBody>
          <a:bodyPr wrap="none" lIns="0" rIns="0" tIns="0" bIns="0">
            <a:spAutoFit/>
          </a:bodyPr>
          <a:lstStyle/>
          <a:p>
            <a:r>
              <a:rPr b="0" sz="800">
                <a:solidFill>
                  <a:srgbClr val="333333"/>
                </a:solidFill>
                <a:latin typeface="Yu Gothic"/>
              </a:rPr>
              <a:t>その他
ご相談ください</a:t>
            </a:r>
          </a:p>
        </p:txBody>
      </p:sp>
      <p:sp>
        <p:nvSpPr>
          <p:cNvPr id="47" name="Rounded Rectangle 46"/>
          <p:cNvSpPr/>
          <p:nvPr/>
        </p:nvSpPr>
        <p:spPr>
          <a:xfrm>
            <a:off x="243840" y="9875520"/>
            <a:ext cx="3169920" cy="365760"/>
          </a:xfrm>
          <a:prstGeom prst="roundRect">
            <a:avLst/>
          </a:prstGeom>
          <a:solidFill>
            <a:srgbClr val="004098"/>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200">
                <a:solidFill>
                  <a:srgbClr val="FFFFFF"/>
                </a:solidFill>
                <a:latin typeface="Yu Gothic"/>
              </a:rPr>
              <a:t>5 料金の目安</a:t>
            </a:r>
          </a:p>
        </p:txBody>
      </p:sp>
      <p:sp>
        <p:nvSpPr>
          <p:cNvPr id="48" name="Rectangle 47"/>
          <p:cNvSpPr/>
          <p:nvPr/>
        </p:nvSpPr>
        <p:spPr>
          <a:xfrm>
            <a:off x="325120" y="10363200"/>
            <a:ext cx="1219200" cy="243840"/>
          </a:xfrm>
          <a:prstGeom prst="rect">
            <a:avLst/>
          </a:prstGeom>
          <a:solidFill>
            <a:srgbClr val="E6F2FF"/>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900">
                <a:solidFill>
                  <a:srgbClr val="003366"/>
                </a:solidFill>
                <a:latin typeface="Yu Gothic"/>
              </a:rPr>
              <a:t>基本料金</a:t>
            </a:r>
          </a:p>
        </p:txBody>
      </p:sp>
      <p:sp>
        <p:nvSpPr>
          <p:cNvPr id="49" name="TextBox 48"/>
          <p:cNvSpPr txBox="1"/>
          <p:nvPr/>
        </p:nvSpPr>
        <p:spPr>
          <a:xfrm>
            <a:off x="325120" y="10728960"/>
            <a:ext cx="1219200" cy="243840"/>
          </a:xfrm>
          <a:prstGeom prst="rect">
            <a:avLst/>
          </a:prstGeom>
          <a:noFill/>
        </p:spPr>
        <p:txBody>
          <a:bodyPr wrap="none" lIns="0" rIns="0" tIns="0" bIns="0">
            <a:spAutoFit/>
          </a:bodyPr>
          <a:lstStyle/>
          <a:p>
            <a:r>
              <a:rPr b="0" sz="1000">
                <a:solidFill>
                  <a:srgbClr val="333333"/>
                </a:solidFill>
                <a:latin typeface="Yu Gothic"/>
              </a:rPr>
              <a:t>1ページあたり</a:t>
            </a:r>
          </a:p>
        </p:txBody>
      </p:sp>
      <p:sp>
        <p:nvSpPr>
          <p:cNvPr id="50" name="TextBox 49"/>
          <p:cNvSpPr txBox="1"/>
          <p:nvPr/>
        </p:nvSpPr>
        <p:spPr>
          <a:xfrm>
            <a:off x="325120" y="10972800"/>
            <a:ext cx="1219200" cy="487680"/>
          </a:xfrm>
          <a:prstGeom prst="rect">
            <a:avLst/>
          </a:prstGeom>
          <a:noFill/>
        </p:spPr>
        <p:txBody>
          <a:bodyPr wrap="none" lIns="0" rIns="0" tIns="0" bIns="0">
            <a:spAutoFit/>
          </a:bodyPr>
          <a:lstStyle/>
          <a:p>
            <a:r>
              <a:rPr b="1" sz="1800">
                <a:solidFill>
                  <a:srgbClr val="004098"/>
                </a:solidFill>
                <a:latin typeface="Yu Gothic"/>
              </a:rPr>
              <a:t>3,000円〜</a:t>
            </a:r>
          </a:p>
        </p:txBody>
      </p:sp>
      <p:sp>
        <p:nvSpPr>
          <p:cNvPr id="51" name="Rounded Rectangle 50"/>
          <p:cNvSpPr/>
          <p:nvPr/>
        </p:nvSpPr>
        <p:spPr>
          <a:xfrm>
            <a:off x="1706880" y="10363200"/>
            <a:ext cx="1625600" cy="1219200"/>
          </a:xfrm>
          <a:prstGeom prst="roundRect">
            <a:avLst/>
          </a:prstGeom>
          <a:solidFill>
            <a:srgbClr val="E6F2FF"/>
          </a:solidFill>
          <a:ln w="15000">
            <a:solidFill>
              <a:srgbClr val="B3D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788160" y="10485120"/>
            <a:ext cx="1463040" cy="243840"/>
          </a:xfrm>
          <a:prstGeom prst="rect">
            <a:avLst/>
          </a:prstGeom>
          <a:noFill/>
        </p:spPr>
        <p:txBody>
          <a:bodyPr wrap="none" lIns="0" rIns="0" tIns="0" bIns="0">
            <a:spAutoFit/>
          </a:bodyPr>
          <a:lstStyle/>
          <a:p>
            <a:r>
              <a:rPr b="1" sz="900">
                <a:solidFill>
                  <a:srgbClr val="003366"/>
                </a:solidFill>
                <a:latin typeface="Yu Gothic"/>
              </a:rPr>
              <a:t>料金は内容により変動します</a:t>
            </a:r>
          </a:p>
        </p:txBody>
      </p:sp>
      <p:sp>
        <p:nvSpPr>
          <p:cNvPr id="53" name="TextBox 52"/>
          <p:cNvSpPr txBox="1"/>
          <p:nvPr/>
        </p:nvSpPr>
        <p:spPr>
          <a:xfrm>
            <a:off x="1788160" y="10728960"/>
            <a:ext cx="1463040" cy="731520"/>
          </a:xfrm>
          <a:prstGeom prst="rect">
            <a:avLst/>
          </a:prstGeom>
          <a:noFill/>
        </p:spPr>
        <p:txBody>
          <a:bodyPr wrap="none" lIns="0" rIns="0" tIns="0" bIns="0">
            <a:spAutoFit/>
          </a:bodyPr>
          <a:lstStyle/>
          <a:p>
            <a:r>
              <a:rPr b="0" sz="800">
                <a:solidFill>
                  <a:srgbClr val="333333"/>
                </a:solidFill>
                <a:latin typeface="Yu Gothic"/>
              </a:rPr>
              <a:t>・ページ数
・言語
・納期
・レイアウト調整の有無
・専門用語の量 など</a:t>
            </a:r>
          </a:p>
        </p:txBody>
      </p:sp>
      <p:sp>
        <p:nvSpPr>
          <p:cNvPr id="54" name="Rounded Rectangle 53"/>
          <p:cNvSpPr/>
          <p:nvPr/>
        </p:nvSpPr>
        <p:spPr>
          <a:xfrm>
            <a:off x="3657600" y="9875520"/>
            <a:ext cx="4226560" cy="365760"/>
          </a:xfrm>
          <a:prstGeom prst="roundRect">
            <a:avLst/>
          </a:prstGeom>
          <a:solidFill>
            <a:srgbClr val="004098"/>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lIns="70000" rIns="70000" tIns="50000" bIns="50000" wrap="square"/>
          <a:lstStyle/>
          <a:p>
            <a:pPr algn="ctr"/>
            <a:r>
              <a:rPr b="1" sz="1200">
                <a:solidFill>
                  <a:srgbClr val="FFFFFF"/>
                </a:solidFill>
                <a:latin typeface="Yu Gothic"/>
              </a:rPr>
              <a:t>6 当サービスが選ばれる理由</a:t>
            </a:r>
          </a:p>
        </p:txBody>
      </p:sp>
      <p:sp>
        <p:nvSpPr>
          <p:cNvPr id="55" name="Rounded Rectangle 54"/>
          <p:cNvSpPr/>
          <p:nvPr/>
        </p:nvSpPr>
        <p:spPr>
          <a:xfrm>
            <a:off x="3738880" y="10363200"/>
            <a:ext cx="1300480" cy="1219200"/>
          </a:xfrm>
          <a:prstGeom prst="roundRect">
            <a:avLst/>
          </a:prstGeom>
          <a:solidFill>
            <a:srgbClr val="FFFFFF"/>
          </a:solidFill>
          <a:ln w="15000">
            <a:solidFill>
              <a:srgbClr val="E6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38880" y="10850880"/>
            <a:ext cx="1300480" cy="243840"/>
          </a:xfrm>
          <a:prstGeom prst="rect">
            <a:avLst/>
          </a:prstGeom>
          <a:noFill/>
        </p:spPr>
        <p:txBody>
          <a:bodyPr wrap="none" lIns="0" rIns="0" tIns="0" bIns="0">
            <a:spAutoFit/>
          </a:bodyPr>
          <a:lstStyle/>
          <a:p>
            <a:r>
              <a:rPr b="1" sz="1000">
                <a:solidFill>
                  <a:srgbClr val="003366"/>
                </a:solidFill>
                <a:latin typeface="Yu Gothic"/>
              </a:rPr>
              <a:t>実績と専門性</a:t>
            </a:r>
          </a:p>
        </p:txBody>
      </p:sp>
      <p:sp>
        <p:nvSpPr>
          <p:cNvPr id="57" name="TextBox 56"/>
          <p:cNvSpPr txBox="1"/>
          <p:nvPr/>
        </p:nvSpPr>
        <p:spPr>
          <a:xfrm>
            <a:off x="3820160" y="11094720"/>
            <a:ext cx="1137920" cy="487680"/>
          </a:xfrm>
          <a:prstGeom prst="rect">
            <a:avLst/>
          </a:prstGeom>
          <a:noFill/>
        </p:spPr>
        <p:txBody>
          <a:bodyPr wrap="none" lIns="0" rIns="0" tIns="0" bIns="0">
            <a:spAutoFit/>
          </a:bodyPr>
          <a:lstStyle/>
          <a:p>
            <a:r>
              <a:rPr b="0" sz="800">
                <a:solidFill>
                  <a:srgbClr val="555555"/>
                </a:solidFill>
                <a:latin typeface="Yu Gothic"/>
              </a:rPr>
              <a:t>マンガ翻訳に特化した豊富な実績とノウハウで高品質を保証します。</a:t>
            </a:r>
          </a:p>
        </p:txBody>
      </p:sp>
      <p:sp>
        <p:nvSpPr>
          <p:cNvPr id="58" name="Rounded Rectangle 57"/>
          <p:cNvSpPr/>
          <p:nvPr/>
        </p:nvSpPr>
        <p:spPr>
          <a:xfrm>
            <a:off x="5120640" y="10363200"/>
            <a:ext cx="1300480" cy="1219200"/>
          </a:xfrm>
          <a:prstGeom prst="roundRect">
            <a:avLst/>
          </a:prstGeom>
          <a:solidFill>
            <a:srgbClr val="FFFFFF"/>
          </a:solidFill>
          <a:ln w="15000">
            <a:solidFill>
              <a:srgbClr val="E6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10850880"/>
            <a:ext cx="1300480" cy="243840"/>
          </a:xfrm>
          <a:prstGeom prst="rect">
            <a:avLst/>
          </a:prstGeom>
          <a:noFill/>
        </p:spPr>
        <p:txBody>
          <a:bodyPr wrap="none" lIns="0" rIns="0" tIns="0" bIns="0">
            <a:spAutoFit/>
          </a:bodyPr>
          <a:lstStyle/>
          <a:p>
            <a:r>
              <a:rPr b="1" sz="1000">
                <a:solidFill>
                  <a:srgbClr val="003366"/>
                </a:solidFill>
                <a:latin typeface="Yu Gothic"/>
              </a:rPr>
              <a:t>丁寧なコミュニケーション</a:t>
            </a:r>
          </a:p>
        </p:txBody>
      </p:sp>
      <p:sp>
        <p:nvSpPr>
          <p:cNvPr id="60" name="TextBox 59"/>
          <p:cNvSpPr txBox="1"/>
          <p:nvPr/>
        </p:nvSpPr>
        <p:spPr>
          <a:xfrm>
            <a:off x="5201920" y="11094720"/>
            <a:ext cx="1137920" cy="487680"/>
          </a:xfrm>
          <a:prstGeom prst="rect">
            <a:avLst/>
          </a:prstGeom>
          <a:noFill/>
        </p:spPr>
        <p:txBody>
          <a:bodyPr wrap="none" lIns="0" rIns="0" tIns="0" bIns="0">
            <a:spAutoFit/>
          </a:bodyPr>
          <a:lstStyle/>
          <a:p>
            <a:r>
              <a:rPr b="0" sz="800">
                <a:solidFill>
                  <a:srgbClr val="555555"/>
                </a:solidFill>
                <a:latin typeface="Yu Gothic"/>
              </a:rPr>
              <a:t>進捗報告をこまめに行い、ご要望に柔軟に対応いたします。</a:t>
            </a:r>
          </a:p>
        </p:txBody>
      </p:sp>
      <p:sp>
        <p:nvSpPr>
          <p:cNvPr id="61" name="Rounded Rectangle 60"/>
          <p:cNvSpPr/>
          <p:nvPr/>
        </p:nvSpPr>
        <p:spPr>
          <a:xfrm>
            <a:off x="6502400" y="10363200"/>
            <a:ext cx="1300480" cy="1219200"/>
          </a:xfrm>
          <a:prstGeom prst="roundRect">
            <a:avLst/>
          </a:prstGeom>
          <a:solidFill>
            <a:srgbClr val="FFFFFF"/>
          </a:solidFill>
          <a:ln w="15000">
            <a:solidFill>
              <a:srgbClr val="E6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02400" y="10850880"/>
            <a:ext cx="1300480" cy="243840"/>
          </a:xfrm>
          <a:prstGeom prst="rect">
            <a:avLst/>
          </a:prstGeom>
          <a:noFill/>
        </p:spPr>
        <p:txBody>
          <a:bodyPr wrap="none" lIns="0" rIns="0" tIns="0" bIns="0">
            <a:spAutoFit/>
          </a:bodyPr>
          <a:lstStyle/>
          <a:p>
            <a:r>
              <a:rPr b="1" sz="1000">
                <a:solidFill>
                  <a:srgbClr val="003366"/>
                </a:solidFill>
                <a:latin typeface="Yu Gothic"/>
              </a:rPr>
              <a:t>作品へのリスペクト</a:t>
            </a:r>
          </a:p>
        </p:txBody>
      </p:sp>
      <p:sp>
        <p:nvSpPr>
          <p:cNvPr id="63" name="TextBox 62"/>
          <p:cNvSpPr txBox="1"/>
          <p:nvPr/>
        </p:nvSpPr>
        <p:spPr>
          <a:xfrm>
            <a:off x="6583680" y="11094720"/>
            <a:ext cx="1137920" cy="487680"/>
          </a:xfrm>
          <a:prstGeom prst="rect">
            <a:avLst/>
          </a:prstGeom>
          <a:noFill/>
        </p:spPr>
        <p:txBody>
          <a:bodyPr wrap="none" lIns="0" rIns="0" tIns="0" bIns="0">
            <a:spAutoFit/>
          </a:bodyPr>
          <a:lstStyle/>
          <a:p>
            <a:r>
              <a:rPr b="0" sz="800">
                <a:solidFill>
                  <a:srgbClr val="555555"/>
                </a:solidFill>
                <a:latin typeface="Yu Gothic"/>
              </a:rPr>
              <a:t>作品の魅力を最大限に引き出す翻訳を心がけ、ファンに届く翻訳を提供します。</a:t>
            </a:r>
          </a:p>
        </p:txBody>
      </p:sp>
      <p:sp>
        <p:nvSpPr>
          <p:cNvPr id="64" name="Rectangle 63"/>
          <p:cNvSpPr/>
          <p:nvPr/>
        </p:nvSpPr>
        <p:spPr>
          <a:xfrm>
            <a:off x="0" y="11582400"/>
            <a:ext cx="8128000" cy="609600"/>
          </a:xfrm>
          <a:prstGeom prst="rect">
            <a:avLst/>
          </a:prstGeom>
          <a:solidFill>
            <a:srgbClr val="003366"/>
          </a:solidFill>
          <a:ln w="15000">
            <a:solidFill>
              <a:srgbClr val="0040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0240" y="11704320"/>
            <a:ext cx="1219200" cy="243840"/>
          </a:xfrm>
          <a:prstGeom prst="rect">
            <a:avLst/>
          </a:prstGeom>
          <a:noFill/>
        </p:spPr>
        <p:txBody>
          <a:bodyPr wrap="none" lIns="0" rIns="0" tIns="0" bIns="0">
            <a:spAutoFit/>
          </a:bodyPr>
          <a:lstStyle/>
          <a:p>
            <a:r>
              <a:rPr b="1" sz="1100">
                <a:solidFill>
                  <a:srgbClr val="FFFFFF"/>
                </a:solidFill>
                <a:latin typeface="Yu Gothic"/>
              </a:rPr>
              <a:t>お問い合わせ</a:t>
            </a:r>
          </a:p>
        </p:txBody>
      </p:sp>
      <p:sp>
        <p:nvSpPr>
          <p:cNvPr id="66" name="TextBox 65"/>
          <p:cNvSpPr txBox="1"/>
          <p:nvPr/>
        </p:nvSpPr>
        <p:spPr>
          <a:xfrm>
            <a:off x="650240" y="11948160"/>
            <a:ext cx="2844800" cy="243840"/>
          </a:xfrm>
          <a:prstGeom prst="rect">
            <a:avLst/>
          </a:prstGeom>
          <a:noFill/>
        </p:spPr>
        <p:txBody>
          <a:bodyPr wrap="none" lIns="0" rIns="0" tIns="0" bIns="0">
            <a:spAutoFit/>
          </a:bodyPr>
          <a:lstStyle/>
          <a:p>
            <a:r>
              <a:rPr b="0" sz="800">
                <a:solidFill>
                  <a:srgbClr val="FFFFFF"/>
                </a:solidFill>
                <a:latin typeface="Yu Gothic"/>
              </a:rPr>
              <a:t>ご相談・お見積りは無料です。まずはお気軽にご連絡ください。</a:t>
            </a:r>
          </a:p>
        </p:txBody>
      </p:sp>
      <p:sp>
        <p:nvSpPr>
          <p:cNvPr id="67" name="TextBox 66"/>
          <p:cNvSpPr txBox="1"/>
          <p:nvPr/>
        </p:nvSpPr>
        <p:spPr>
          <a:xfrm>
            <a:off x="4714240" y="11704320"/>
            <a:ext cx="1219200" cy="243840"/>
          </a:xfrm>
          <a:prstGeom prst="rect">
            <a:avLst/>
          </a:prstGeom>
          <a:noFill/>
        </p:spPr>
        <p:txBody>
          <a:bodyPr wrap="none" lIns="0" rIns="0" tIns="0" bIns="0">
            <a:spAutoFit/>
          </a:bodyPr>
          <a:lstStyle/>
          <a:p>
            <a:r>
              <a:rPr b="1" sz="1100">
                <a:solidFill>
                  <a:srgbClr val="FFFFFF"/>
                </a:solidFill>
                <a:latin typeface="Aptos"/>
              </a:rPr>
              <a:t>00-0000-0000</a:t>
            </a:r>
          </a:p>
        </p:txBody>
      </p:sp>
      <p:sp>
        <p:nvSpPr>
          <p:cNvPr id="68" name="TextBox 67"/>
          <p:cNvSpPr txBox="1"/>
          <p:nvPr/>
        </p:nvSpPr>
        <p:spPr>
          <a:xfrm>
            <a:off x="4714240" y="11948160"/>
            <a:ext cx="1219200" cy="243840"/>
          </a:xfrm>
          <a:prstGeom prst="rect">
            <a:avLst/>
          </a:prstGeom>
          <a:noFill/>
        </p:spPr>
        <p:txBody>
          <a:bodyPr wrap="none" lIns="0" rIns="0" tIns="0" bIns="0">
            <a:spAutoFit/>
          </a:bodyPr>
          <a:lstStyle/>
          <a:p>
            <a:r>
              <a:rPr b="0" sz="900">
                <a:solidFill>
                  <a:srgbClr val="FFFFFF"/>
                </a:solidFill>
                <a:latin typeface="Aptos"/>
              </a:rPr>
              <a:t>info@example.com</a:t>
            </a:r>
          </a:p>
        </p:txBody>
      </p:sp>
      <p:sp>
        <p:nvSpPr>
          <p:cNvPr id="69" name="TextBox 68"/>
          <p:cNvSpPr txBox="1"/>
          <p:nvPr/>
        </p:nvSpPr>
        <p:spPr>
          <a:xfrm>
            <a:off x="6664960" y="11704320"/>
            <a:ext cx="1219200" cy="243840"/>
          </a:xfrm>
          <a:prstGeom prst="rect">
            <a:avLst/>
          </a:prstGeom>
          <a:noFill/>
        </p:spPr>
        <p:txBody>
          <a:bodyPr wrap="none" lIns="0" rIns="0" tIns="0" bIns="0">
            <a:spAutoFit/>
          </a:bodyPr>
          <a:lstStyle/>
          <a:p>
            <a:r>
              <a:rPr b="1" sz="1000">
                <a:solidFill>
                  <a:srgbClr val="FFFFFF"/>
                </a:solidFill>
                <a:latin typeface="Yu Gothic"/>
              </a:rPr>
              <a:t>会社名・サービス名</a:t>
            </a:r>
          </a:p>
        </p:txBody>
      </p:sp>
      <p:sp>
        <p:nvSpPr>
          <p:cNvPr id="70" name="TextBox 69"/>
          <p:cNvSpPr txBox="1"/>
          <p:nvPr/>
        </p:nvSpPr>
        <p:spPr>
          <a:xfrm>
            <a:off x="6664960" y="11948160"/>
            <a:ext cx="1219200" cy="243840"/>
          </a:xfrm>
          <a:prstGeom prst="rect">
            <a:avLst/>
          </a:prstGeom>
          <a:noFill/>
        </p:spPr>
        <p:txBody>
          <a:bodyPr wrap="none" lIns="0" rIns="0" tIns="0" bIns="0">
            <a:spAutoFit/>
          </a:bodyPr>
          <a:lstStyle/>
          <a:p>
            <a:r>
              <a:rPr b="0" sz="800">
                <a:solidFill>
                  <a:srgbClr val="FFFFFF"/>
                </a:solidFill>
                <a:latin typeface="Yu Gothic"/>
              </a:rPr>
              <a:t>担当：〇〇 〇〇</a:t>
            </a:r>
          </a:p>
        </p:txBody>
      </p:sp>
      <p:pic>
        <p:nvPicPr>
          <p:cNvPr id="71" name="Picture 70" descr="region-0.png"/>
          <p:cNvPicPr>
            <a:picLocks noChangeAspect="1"/>
          </p:cNvPicPr>
          <p:nvPr/>
        </p:nvPicPr>
        <p:blipFill>
          <a:blip r:embed="rId2"/>
          <a:stretch>
            <a:fillRect/>
          </a:stretch>
        </p:blipFill>
        <p:spPr>
          <a:xfrm>
            <a:off x="5283200" y="0"/>
            <a:ext cx="2844800" cy="2438400"/>
          </a:xfrm>
          <a:prstGeom prst="rect">
            <a:avLst/>
          </a:prstGeom>
        </p:spPr>
      </p:pic>
      <p:pic>
        <p:nvPicPr>
          <p:cNvPr id="72" name="Picture 71" descr="region-1.png"/>
          <p:cNvPicPr>
            <a:picLocks noChangeAspect="1"/>
          </p:cNvPicPr>
          <p:nvPr/>
        </p:nvPicPr>
        <p:blipFill>
          <a:blip r:embed="rId3"/>
          <a:stretch>
            <a:fillRect/>
          </a:stretch>
        </p:blipFill>
        <p:spPr>
          <a:xfrm>
            <a:off x="3657600" y="3535679"/>
            <a:ext cx="4226560" cy="463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